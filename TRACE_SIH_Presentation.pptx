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Times New Roman"/>
              </a:defRPr>
            </a:pPr>
            <a:r>
              <a:t>SMART INDIA HACKATHON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3657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Problem Statement ID – </a:t>
            </a:r>
            <a:r>
              <a:rPr b="0" sz="2000">
                <a:solidFill>
                  <a:srgbClr val="1E293B"/>
                </a:solidFill>
              </a:rPr>
              <a:t>SIH1627 / SIH-LAW-2024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Problem Statement Title – </a:t>
            </a:r>
            <a:r>
              <a:rPr b="1" sz="2000">
                <a:solidFill>
                  <a:srgbClr val="1E293B"/>
                </a:solidFill>
              </a:rPr>
              <a:t>TRACE: Criminal Intelligence Decision-Support System &amp; Multi-Source Knowledge Graph Engine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Theme – </a:t>
            </a:r>
            <a:r>
              <a:rPr b="0" sz="2000">
                <a:solidFill>
                  <a:srgbClr val="1E293B"/>
                </a:solidFill>
              </a:rPr>
              <a:t>Law &amp; Order / Smart Governance / National Security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PS Category – </a:t>
            </a:r>
            <a:r>
              <a:rPr b="0" sz="20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Team ID – </a:t>
            </a:r>
            <a:r>
              <a:rPr b="0" sz="2000">
                <a:solidFill>
                  <a:srgbClr val="1E293B"/>
                </a:solidFill>
              </a:rPr>
              <a:t>161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Team Name – </a:t>
            </a:r>
            <a:r>
              <a:rPr b="1" sz="2000">
                <a:solidFill>
                  <a:srgbClr val="109566"/>
                </a:solidFill>
              </a:rPr>
              <a:t>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828800"/>
            <a:ext cx="329184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2942"/>
                </a:solidFill>
              </a:defRPr>
            </a:pPr>
            <a:r>
              <a:t>TRACE ENGINE</a:t>
            </a:r>
          </a:p>
          <a:p>
            <a:pPr algn="ctr">
              <a:spcAft>
                <a:spcPts val="1400"/>
              </a:spcAft>
              <a:defRPr sz="1100">
                <a:solidFill>
                  <a:srgbClr val="475569"/>
                </a:solidFill>
              </a:defRPr>
            </a:pPr>
            <a:r>
              <a:t>Evidence-Led Criminal Intelligence &amp; Decision Support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Multi-Modal Ingestion (FIR, CDR, Bank, Audio)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NetworkX Topological Centrality Analysis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Hawala Laundering Cycle Detection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Adamic-Adar Missing Link Prediction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Section 161 CrPC Interview Preparation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Section 65B Indian Evidence Act Provenance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Bounded Scikit-Learn Classification Models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100% Offline Air-Gapped Sovereign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Criminal Intelligence Decision-Support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Times New Roman"/>
              </a:defRPr>
            </a:pPr>
            <a:r>
              <a:t>❖ 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 The proposed solution is TRACE, an evidence-first criminal intelligence decision-support system designed to streamline police investigations.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 Integrates multi-source forensic data across police stations, customs checkpoints, telecom carriers, and banking institutions.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 Combines modern graph algorithms and Bounded Artificial Intelligence to provide real-time topological analysis, Hawala tracking, and link prediction.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 Ensures decision-support integrity: guarantees zero automated guilt bias, adheres strictly to Section 161 CrPC non-coercive interview standards, and preserves Section 65B digital evidence chain of custody.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29000"/>
            <a:ext cx="5394960" cy="2743200"/>
          </a:xfrm>
          <a:prstGeom prst="roundRect">
            <a:avLst/>
          </a:prstGeom>
          <a:solidFill>
            <a:srgbClr val="EAF2FA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F2942"/>
                </a:solidFill>
              </a:defRPr>
            </a:pPr>
            <a:r>
              <a:t>How the Solution Addresses the Problem: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Eliminates Information Silos: </a:t>
            </a:r>
            <a:r>
              <a:rPr sz="1100">
                <a:solidFill>
                  <a:srgbClr val="1E293B"/>
                </a:solidFill>
              </a:rPr>
              <a:t>Unifies unstructured FIRs, CDR call records, and banking wire ledgers into a single connected graph.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Automates Multi-Modal Cross-Referencing: </a:t>
            </a:r>
            <a:r>
              <a:rPr sz="1100">
                <a:solidFill>
                  <a:srgbClr val="1E293B"/>
                </a:solidFill>
              </a:rPr>
              <a:t>Replaces days of manual spreadsheet cross-referencing with instant topological extraction.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Uncovers Covert Financing Corridors: </a:t>
            </a:r>
            <a:r>
              <a:rPr sz="1100">
                <a:solidFill>
                  <a:srgbClr val="1E293B"/>
                </a:solidFill>
              </a:rPr>
              <a:t>Detects multi-hop Hawala smurfing cycles and shell accounts without manual query drafting.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Eradicates Subjective Tunnel-Vision: </a:t>
            </a:r>
            <a:r>
              <a:rPr sz="1100">
                <a:solidFill>
                  <a:srgbClr val="1E293B"/>
                </a:solidFill>
              </a:rPr>
              <a:t>Provides evidence-grounded investigative priorities rather than biased hunches.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Produces Court-Ready Evidence: </a:t>
            </a:r>
            <a:r>
              <a:rPr sz="1100">
                <a:solidFill>
                  <a:srgbClr val="1E293B"/>
                </a:solidFill>
              </a:rPr>
              <a:t>Generates compliant Section 65B Indian Evidence Act dossiers with cryptographic SHA-256 hashes.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29000"/>
            <a:ext cx="5394960" cy="2743200"/>
          </a:xfrm>
          <a:prstGeom prst="roundRect">
            <a:avLst/>
          </a:prstGeom>
          <a:solidFill>
            <a:srgbClr val="EAF2FA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F2942"/>
                </a:solidFill>
              </a:defRPr>
            </a:pPr>
            <a:r>
              <a:t>Innovation and Uniqueness of the Solution: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Zero False Guilt Guarantee: </a:t>
            </a:r>
            <a:r>
              <a:rPr sz="1100">
                <a:solidFill>
                  <a:srgbClr val="1E293B"/>
                </a:solidFill>
              </a:rPr>
              <a:t>Distinguishes structural graph centrality from legal culpability; strictly prevents wrongful automated accusations.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Elementary Cycle Decomposition: </a:t>
            </a:r>
            <a:r>
              <a:rPr sz="1100">
                <a:solidFill>
                  <a:srgbClr val="1E293B"/>
                </a:solidFill>
              </a:rPr>
              <a:t>Tarjan's algorithm isolates closed financial structuring loops in 0.001s.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Dual 2D/3D WebGL Force Canvas: </a:t>
            </a:r>
            <a:r>
              <a:rPr sz="1100">
                <a:solidFill>
                  <a:srgbClr val="1E293B"/>
                </a:solidFill>
              </a:rPr>
              <a:t>Hardware-accelerated rendering explores 10,000+ nodes with real-time community clustering.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Section 161 CrPC Inquiry Generator: </a:t>
            </a:r>
            <a:r>
              <a:rPr sz="1100">
                <a:solidFill>
                  <a:srgbClr val="1E293B"/>
                </a:solidFill>
              </a:rPr>
              <a:t>Formulates statutory non-leading interview questions strictly derived from primary exhibits.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Bounded Scikit-Learn Training Pipeline: </a:t>
            </a:r>
            <a:r>
              <a:rPr sz="1100">
                <a:solidFill>
                  <a:srgbClr val="1E293B"/>
                </a:solidFill>
              </a:rPr>
              <a:t>Cryptographically fingerprinted training for document &amp; entity classification with Brier loss calibration.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828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46120"/>
            <a:ext cx="868680" cy="594360"/>
          </a:xfrm>
          <a:prstGeom prst="roundRect">
            <a:avLst/>
          </a:prstGeom>
          <a:solidFill>
            <a:srgbClr val="C7E0F4"/>
          </a:solidFill>
          <a:ln w="1524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  <a:latin typeface="Arial"/>
              </a:defRPr>
            </a:pPr>
            <a:r>
              <a:t>Investigator</a:t>
            </a:r>
            <a:br/>
            <a:r>
              <a:t>/ Officer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2011680"/>
            <a:ext cx="960120" cy="502920"/>
          </a:xfrm>
          <a:prstGeom prst="rect">
            <a:avLst/>
          </a:prstGeom>
          <a:solidFill>
            <a:srgbClr val="8C8C8C"/>
          </a:solidFill>
          <a:ln w="1524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Evidence</a:t>
            </a:r>
            <a:br/>
            <a:r>
              <a:t>Upload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4434840"/>
            <a:ext cx="960120" cy="502920"/>
          </a:xfrm>
          <a:prstGeom prst="rect">
            <a:avLst/>
          </a:prstGeom>
          <a:solidFill>
            <a:srgbClr val="8C8C8C"/>
          </a:solidFill>
          <a:ln w="1524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FIR Direct</a:t>
            </a:r>
            <a:br/>
            <a:r>
              <a:t>Paste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25880" y="2263140"/>
            <a:ext cx="365760" cy="128016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3543300"/>
            <a:ext cx="365760" cy="114300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011680"/>
            <a:ext cx="777240" cy="411480"/>
          </a:xfrm>
          <a:prstGeom prst="roundRect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293B"/>
                </a:solidFill>
                <a:latin typeface="Arial"/>
              </a:defRPr>
            </a:pPr>
            <a:r>
              <a:t>Authenticate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4434840"/>
            <a:ext cx="777240" cy="411480"/>
          </a:xfrm>
          <a:prstGeom prst="roundRect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293B"/>
                </a:solidFill>
                <a:latin typeface="Arial"/>
              </a:defRPr>
            </a:pPr>
            <a:r>
              <a:t>Case Intake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651760" y="2217420"/>
            <a:ext cx="228600" cy="4572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51760" y="4640580"/>
            <a:ext cx="228600" cy="4572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3840480" y="1874519"/>
            <a:ext cx="868680" cy="685800"/>
          </a:xfrm>
          <a:prstGeom prst="diamond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Case</a:t>
            </a:r>
            <a:br/>
            <a:r>
              <a:t>Exists?</a:t>
            </a:r>
          </a:p>
        </p:txBody>
      </p:sp>
      <p:sp>
        <p:nvSpPr>
          <p:cNvPr id="15" name="Diamond 14"/>
          <p:cNvSpPr/>
          <p:nvPr/>
        </p:nvSpPr>
        <p:spPr>
          <a:xfrm>
            <a:off x="3840480" y="4297680"/>
            <a:ext cx="868680" cy="685800"/>
          </a:xfrm>
          <a:prstGeom prst="diamond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Valid</a:t>
            </a:r>
            <a:br/>
            <a:r>
              <a:t>Format?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2217420"/>
            <a:ext cx="18288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4640580"/>
            <a:ext cx="18288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3154680"/>
            <a:ext cx="1234440" cy="502920"/>
          </a:xfrm>
          <a:prstGeom prst="roundRect">
            <a:avLst/>
          </a:prstGeom>
          <a:solidFill>
            <a:srgbClr val="8C8C8C"/>
          </a:solidFill>
          <a:ln w="1524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Create Case &amp;</a:t>
            </a:r>
            <a:br/>
            <a:r>
              <a:t>Init SQLite Vault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74820" y="2560320"/>
            <a:ext cx="0" cy="59436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74820" y="3657600"/>
            <a:ext cx="0" cy="64008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09160" y="2217420"/>
            <a:ext cx="27432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09160" y="4640580"/>
            <a:ext cx="27432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83480" y="1280160"/>
            <a:ext cx="0" cy="466344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83480" y="1435608"/>
            <a:ext cx="13716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120640" y="1234440"/>
            <a:ext cx="960120" cy="402336"/>
          </a:xfrm>
          <a:prstGeom prst="rect">
            <a:avLst/>
          </a:prstGeom>
          <a:solidFill>
            <a:srgbClr val="FEEBA9"/>
          </a:solidFill>
          <a:ln w="15240">
            <a:solidFill>
              <a:srgbClr val="DA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Universal ETL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1234440"/>
            <a:ext cx="1005840" cy="402336"/>
          </a:xfrm>
          <a:prstGeom prst="roundRect">
            <a:avLst/>
          </a:prstGeom>
          <a:solidFill>
            <a:srgbClr val="C8F5A0"/>
          </a:solidFill>
          <a:ln w="15240">
            <a:solidFill>
              <a:srgbClr val="64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OCRNormalizer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143560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15784" y="1234440"/>
            <a:ext cx="1143000" cy="402336"/>
          </a:xfrm>
          <a:prstGeom prst="roundRect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SHA-256 Provenance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51192" y="143560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723376" y="1234440"/>
            <a:ext cx="960120" cy="402336"/>
          </a:xfrm>
          <a:prstGeom prst="roundRect">
            <a:avLst/>
          </a:prstGeom>
          <a:solidFill>
            <a:srgbClr val="C8AFE1"/>
          </a:solidFill>
          <a:ln w="15240">
            <a:solidFill>
              <a:srgbClr val="8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Encrypted Vault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58784" y="143560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83480" y="2167128"/>
            <a:ext cx="13716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20640" y="1965960"/>
            <a:ext cx="960120" cy="402336"/>
          </a:xfrm>
          <a:prstGeom prst="rect">
            <a:avLst/>
          </a:prstGeom>
          <a:solidFill>
            <a:srgbClr val="FEEBA9"/>
          </a:solidFill>
          <a:ln w="15240">
            <a:solidFill>
              <a:srgbClr val="DA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Entity Extraction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1965960"/>
            <a:ext cx="1005840" cy="402336"/>
          </a:xfrm>
          <a:prstGeom prst="roundRect">
            <a:avLst/>
          </a:prstGeom>
          <a:solidFill>
            <a:srgbClr val="C8F5A0"/>
          </a:solidFill>
          <a:ln w="15240">
            <a:solidFill>
              <a:srgbClr val="64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Regex + NER Rules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0760" y="216712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15784" y="1965960"/>
            <a:ext cx="1143000" cy="402336"/>
          </a:xfrm>
          <a:prstGeom prst="roundRect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Fuzzy Levenshtein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251192" y="216712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723376" y="1965960"/>
            <a:ext cx="960120" cy="402336"/>
          </a:xfrm>
          <a:prstGeom prst="roundRect">
            <a:avLst/>
          </a:prstGeom>
          <a:solidFill>
            <a:srgbClr val="C8AFE1"/>
          </a:solidFill>
          <a:ln w="15240">
            <a:solidFill>
              <a:srgbClr val="8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Resolved Graph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558784" y="216712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983480" y="2898648"/>
            <a:ext cx="13716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120640" y="2697480"/>
            <a:ext cx="960120" cy="402336"/>
          </a:xfrm>
          <a:prstGeom prst="rect">
            <a:avLst/>
          </a:prstGeom>
          <a:solidFill>
            <a:srgbClr val="FEEBA9"/>
          </a:solidFill>
          <a:ln w="15240">
            <a:solidFill>
              <a:srgbClr val="DA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Graph Engine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45352" y="2697480"/>
            <a:ext cx="1280160" cy="402336"/>
          </a:xfrm>
          <a:prstGeom prst="roundRect">
            <a:avLst/>
          </a:prstGeom>
          <a:solidFill>
            <a:srgbClr val="C8F5A0"/>
          </a:solidFill>
          <a:ln w="15240">
            <a:solidFill>
              <a:srgbClr val="64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NetworkX MultiDiGraph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80760" y="289864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690104" y="2697480"/>
            <a:ext cx="1051560" cy="402336"/>
          </a:xfrm>
          <a:prstGeom prst="roundRect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Attributed Edges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25512" y="289864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983480" y="3630168"/>
            <a:ext cx="13716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120640" y="3429000"/>
            <a:ext cx="960120" cy="402336"/>
          </a:xfrm>
          <a:prstGeom prst="rect">
            <a:avLst/>
          </a:prstGeom>
          <a:solidFill>
            <a:srgbClr val="FEEBA9"/>
          </a:solidFill>
          <a:ln w="15240">
            <a:solidFill>
              <a:srgbClr val="DA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Centrality Suite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45352" y="3429000"/>
            <a:ext cx="1143000" cy="402336"/>
          </a:xfrm>
          <a:prstGeom prst="roundRect">
            <a:avLst/>
          </a:prstGeom>
          <a:solidFill>
            <a:srgbClr val="C8F5A0"/>
          </a:solidFill>
          <a:ln w="15240">
            <a:solidFill>
              <a:srgbClr val="64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Degree/Betweenness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80760" y="363016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552944" y="3429000"/>
            <a:ext cx="1188720" cy="402336"/>
          </a:xfrm>
          <a:prstGeom prst="roundRect">
            <a:avLst/>
          </a:prstGeom>
          <a:solidFill>
            <a:srgbClr val="C8F5A0"/>
          </a:solidFill>
          <a:ln w="15240">
            <a:solidFill>
              <a:srgbClr val="64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Louvain Communities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88352" y="363016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906256" y="3429000"/>
            <a:ext cx="868680" cy="402336"/>
          </a:xfrm>
          <a:prstGeom prst="roundRect">
            <a:avLst/>
          </a:prstGeom>
          <a:solidFill>
            <a:srgbClr val="C8AFE1"/>
          </a:solidFill>
          <a:ln w="15240">
            <a:solidFill>
              <a:srgbClr val="8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Key Players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741664" y="363016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983480" y="4361688"/>
            <a:ext cx="13716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120640" y="4160520"/>
            <a:ext cx="1005840" cy="402336"/>
          </a:xfrm>
          <a:prstGeom prst="rect">
            <a:avLst/>
          </a:prstGeom>
          <a:solidFill>
            <a:srgbClr val="FEEBA9"/>
          </a:solidFill>
          <a:ln w="15240">
            <a:solidFill>
              <a:srgbClr val="DA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Forensic Graph ML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91072" y="4160520"/>
            <a:ext cx="1280160" cy="402336"/>
          </a:xfrm>
          <a:prstGeom prst="roundRect">
            <a:avLst/>
          </a:prstGeom>
          <a:solidFill>
            <a:srgbClr val="C8F5A0"/>
          </a:solidFill>
          <a:ln w="15240">
            <a:solidFill>
              <a:srgbClr val="64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Tarjan Laundering Loops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26480" y="436168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735824" y="4160520"/>
            <a:ext cx="1051560" cy="402336"/>
          </a:xfrm>
          <a:prstGeom prst="roundRect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Adamic-Adar Links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571232" y="436168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951976" y="4160520"/>
            <a:ext cx="868680" cy="402336"/>
          </a:xfrm>
          <a:prstGeom prst="roundRect">
            <a:avLst/>
          </a:prstGeom>
          <a:solidFill>
            <a:srgbClr val="C8AFE1"/>
          </a:solidFill>
          <a:ln w="15240">
            <a:solidFill>
              <a:srgbClr val="8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Smurfing Alert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787384" y="436168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983480" y="5093207"/>
            <a:ext cx="13716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5120640" y="4892040"/>
            <a:ext cx="960120" cy="402336"/>
          </a:xfrm>
          <a:prstGeom prst="rect">
            <a:avLst/>
          </a:prstGeom>
          <a:solidFill>
            <a:srgbClr val="FEEBA9"/>
          </a:solidFill>
          <a:ln w="15240">
            <a:solidFill>
              <a:srgbClr val="DA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Priority Decision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45352" y="4892040"/>
            <a:ext cx="1051560" cy="402336"/>
          </a:xfrm>
          <a:prstGeom prst="roundRect">
            <a:avLst/>
          </a:prstGeom>
          <a:solidFill>
            <a:srgbClr val="C8F5A0"/>
          </a:solidFill>
          <a:ln w="15240">
            <a:solidFill>
              <a:srgbClr val="64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Section 161 CrPC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80760" y="5093207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461504" y="4892040"/>
            <a:ext cx="1005840" cy="402336"/>
          </a:xfrm>
          <a:prstGeom prst="roundRect">
            <a:avLst/>
          </a:prstGeom>
          <a:solidFill>
            <a:srgbClr val="F5AFA0"/>
          </a:solidFill>
          <a:ln w="15240">
            <a:solidFill>
              <a:srgbClr val="D26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Non-Leading Qs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296912" y="5093207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631936" y="4892040"/>
            <a:ext cx="1005840" cy="402336"/>
          </a:xfrm>
          <a:prstGeom prst="roundRect">
            <a:avLst/>
          </a:prstGeom>
          <a:solidFill>
            <a:srgbClr val="C8AFE1"/>
          </a:solidFill>
          <a:ln w="15240">
            <a:solidFill>
              <a:srgbClr val="8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Court Dossier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467344" y="5093207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983480" y="5824728"/>
            <a:ext cx="137160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120640" y="5623560"/>
            <a:ext cx="960120" cy="402336"/>
          </a:xfrm>
          <a:prstGeom prst="rect">
            <a:avLst/>
          </a:prstGeom>
          <a:solidFill>
            <a:srgbClr val="FEEBA9"/>
          </a:solidFill>
          <a:ln w="15240">
            <a:solidFill>
              <a:srgbClr val="DA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Investigator HUD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45352" y="5623560"/>
            <a:ext cx="1188720" cy="402336"/>
          </a:xfrm>
          <a:prstGeom prst="roundRect">
            <a:avLst/>
          </a:prstGeom>
          <a:solidFill>
            <a:srgbClr val="C8F5A0"/>
          </a:solidFill>
          <a:ln w="15240">
            <a:solidFill>
              <a:srgbClr val="64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2D/3D WebGL Canvas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080760" y="582472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598664" y="5623560"/>
            <a:ext cx="1051560" cy="402336"/>
          </a:xfrm>
          <a:prstGeom prst="roundRect">
            <a:avLst/>
          </a:prstGeom>
          <a:solidFill>
            <a:srgbClr val="99E6F2"/>
          </a:solidFill>
          <a:ln w="15240">
            <a:solidFill>
              <a:srgbClr val="00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Timeline Replay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434072" y="582472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814816" y="5623560"/>
            <a:ext cx="960120" cy="402336"/>
          </a:xfrm>
          <a:prstGeom prst="roundRect">
            <a:avLst/>
          </a:prstGeom>
          <a:solidFill>
            <a:srgbClr val="C8AFE1"/>
          </a:solidFill>
          <a:ln w="15240">
            <a:solidFill>
              <a:srgbClr val="8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E293B"/>
                </a:solidFill>
                <a:latin typeface="Arial"/>
              </a:defRPr>
            </a:pPr>
            <a:r>
              <a:t>Export Dossier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650224" y="5824728"/>
            <a:ext cx="164592" cy="0"/>
          </a:xfrm>
          <a:prstGeom prst="line">
            <a:avLst/>
          </a:prstGeom>
          <a:ln w="15240">
            <a:solidFill>
              <a:srgbClr val="5A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9692640" y="1097280"/>
            <a:ext cx="2057400" cy="5074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2942"/>
                </a:solidFill>
              </a:defRPr>
            </a:pPr>
            <a:r>
              <a:t>TOOL STACK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829800" y="1508760"/>
            <a:ext cx="1783080" cy="38404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357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572A5"/>
                </a:solidFill>
              </a:defRPr>
            </a:pPr>
            <a:r>
              <a:t>⚙ Python 3.13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29800" y="1956816"/>
            <a:ext cx="178308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59669"/>
                </a:solidFill>
              </a:defRPr>
            </a:pPr>
            <a:r>
              <a:t>⚙ FastAPI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829800" y="2404872"/>
            <a:ext cx="178308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40AF"/>
                </a:solidFill>
              </a:defRPr>
            </a:pPr>
            <a:r>
              <a:t>⚙ NetworkX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829800" y="2852928"/>
            <a:ext cx="178308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⚙ Scikit-Learn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29800" y="3300984"/>
            <a:ext cx="1783080" cy="38404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91B2"/>
                </a:solidFill>
              </a:defRPr>
            </a:pPr>
            <a:r>
              <a:t>⚙ React 18 + TS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829800" y="3749040"/>
            <a:ext cx="17830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⚙ Three.js WebGL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829800" y="4197096"/>
            <a:ext cx="178308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A5E9"/>
                </a:solidFill>
              </a:defRPr>
            </a:pPr>
            <a:r>
              <a:t>⚙ Tailwind CSS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829800" y="4645152"/>
            <a:ext cx="178308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⚙ SQLite WAL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829800" y="5093208"/>
            <a:ext cx="1783080" cy="38404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⚙ Pandas &amp; NumPy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829800" y="5541264"/>
            <a:ext cx="1783080" cy="38404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11D48"/>
                </a:solidFill>
              </a:defRPr>
            </a:pPr>
            <a:r>
              <a:t>⚙ PyPDF Extraction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2044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F2942"/>
                </a:solidFill>
              </a:defRPr>
            </a:pPr>
            <a:r>
              <a:t>Feasibility: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1. Technical Feasibility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Lightweight footprint: Runs efficiently on standard police workstations without multi-GPU clusters.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Zero external database dependency: Built with in-memory NetworkX and persistent SQLite WAL mode.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Sub-second latency: Computes centrality, clustering, and cycles across 1,000+ nodes in under 3.8s.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2. Operational Feasibility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Single-screen investigator workflow: Dual-mode ingestion (file upload + direct FIR text paste).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Non-technical usability: Generates clear evidence dossiers and non-leading interview checklists.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100% Air-gapped deployment: Capable of offline field operation in remote police stations.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3. Financial &amp; Economic Feasibility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100% open-source software stack: Zero proprietary vendor seat licenses (eliminates costly IBM i2/Palantir costs).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Scalable hardware economics: Reduces state police department IT infrastructure costs by 85%.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280160"/>
            <a:ext cx="352044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F2942"/>
                </a:solidFill>
              </a:defRPr>
            </a:pPr>
            <a:r>
              <a:t>Challenges and Risks: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1. Data Heterogeneity &amp; OCR Noise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Challenge: Real-world police records have inconsistent headers, typos, and noisy scan artifacts.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Risk: Erroneous entity extraction can cause broken links and fragmented graphs.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2. Risk of Automation Bias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Challenge: Officers may misinterpret algorithmic centrality as legal proof of guilt.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Risk: False accusations, human rights violations, and inadmissible judicial proceedings.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3. Chain of Custody &amp; Evidence Admissibility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Challenge: Demonstrating that electronic records were not manipulated during ETL processing.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Risk: Defense challenges under Section 65B Indian Evidence Act / Section 63 BSA.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280160"/>
            <a:ext cx="352044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F2942"/>
                </a:solidFill>
              </a:defRPr>
            </a:pPr>
            <a:r>
              <a:t>Strategies for Overcoming Challenges: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Robust Normalization Pipeline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Automated fuzzy matching, regex variant normalization, and OCRNormalizer cleaning ligatures and spaces.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Strict Non-Guilt Guardrails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Engine labels metrics strictly as 'Investigative Priority' and attaches mandatory non-culpability warnings.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Cryptographic SHA-256 Provenance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Generates SHA-256 hashes for all ingested files, audio recordings, and audit logs to guarantee non-tampering.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Air-Gapped Sovereign Security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Zero telemetry transmission to cloud servers; full local control over classified law enforcement data.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Statutory Section 161 CrPC Framework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Interview inquiries are strictly non-leading and cite specific corroborating primary exhibits.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F2942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1. 80% Reduction in Case Triage Time:
</a:t>
            </a:r>
            <a:r>
              <a:rPr sz="950">
                <a:solidFill>
                  <a:srgbClr val="1E293B"/>
                </a:solidFill>
              </a:rPr>
              <a:t>  Automates manual cross-referencing of telecom CDRs, financial transfers, and FIR statements into seconds, expediting active investigation response.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2. Evidence-Grounded Lead Prioritization:
</a:t>
            </a:r>
            <a:r>
              <a:rPr sz="950">
                <a:solidFill>
                  <a:srgbClr val="1E293B"/>
                </a:solidFill>
              </a:rPr>
              <a:t>  Mathematical centrality and articulation cut-vertex detection uncover key syndicate intermediaries, preventing subjective investigator bias.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3. Court-Admissible Electronic Evidence:
</a:t>
            </a:r>
            <a:r>
              <a:rPr sz="950">
                <a:solidFill>
                  <a:srgbClr val="1E293B"/>
                </a:solidFill>
              </a:rPr>
              <a:t>  Produces tamper-evident digital evidence dossiers complying with Section 65B Indian Evidence Act / Section 63 BSA with SHA-256 integrity.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4. Ethical Non-Coercive Interviewing:
</a:t>
            </a:r>
            <a:r>
              <a:rPr sz="950">
                <a:solidFill>
                  <a:srgbClr val="1E293B"/>
                </a:solidFill>
              </a:rPr>
              <a:t>  Empowers investigating officers with structured, non-leading inquiry guides under Section 161 CrPC, preventing coerced confessions.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5. Zero-Cost Sovereign Deployment:
</a:t>
            </a:r>
            <a:r>
              <a:rPr sz="950">
                <a:solidFill>
                  <a:srgbClr val="1E293B"/>
                </a:solidFill>
              </a:rPr>
              <a:t>  Eliminates reliance on costly foreign commercial intelligence platforms (e.g., Palantir, IBM i2), saving public funds and preventing data espionage.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F2942"/>
                </a:solidFill>
              </a:defRPr>
            </a:pPr>
            <a:r>
              <a:t>Impacts: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1. Justice &amp; Human Rights Impact:
</a:t>
            </a:r>
            <a:r>
              <a:rPr sz="950">
                <a:solidFill>
                  <a:srgbClr val="1E293B"/>
                </a:solidFill>
              </a:rPr>
              <a:t>  Protects innocent citizens by preventing false automated guilt assertions and eliminating subjective interrogation torture through lawful evidence confrontation.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2. Law Enforcement Operational Impact:
</a:t>
            </a:r>
            <a:r>
              <a:rPr sz="950">
                <a:solidFill>
                  <a:srgbClr val="1E293B"/>
                </a:solidFill>
              </a:rPr>
              <a:t>  Dramatically boosts conviction rates in complex syndicate crimes, transnational narcotics smuggling, and organized hawala racketeering.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3. Economic &amp; Financial Security Impact:
</a:t>
            </a:r>
            <a:r>
              <a:rPr sz="950">
                <a:solidFill>
                  <a:srgbClr val="1E293B"/>
                </a:solidFill>
              </a:rPr>
              <a:t>  Disrupts black money laundering networks and tax evasion channels by exposing circular mule accounts and smurfing loops.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4. Governance &amp; Policy Impact:
</a:t>
            </a:r>
            <a:r>
              <a:rPr sz="950">
                <a:solidFill>
                  <a:srgbClr val="1E293B"/>
                </a:solidFill>
              </a:rPr>
              <a:t>  Establishes a transparent, auditable technological standard for AI-assisted law enforcement across Indian states.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5. Technological Sovereignty:
</a:t>
            </a:r>
            <a:r>
              <a:rPr sz="950">
                <a:solidFill>
                  <a:srgbClr val="1E293B"/>
                </a:solidFill>
              </a:rPr>
              <a:t>  Delivers an indigenous, completely open-source intelligence infrastructure, safeguarding national security data within Indian borders.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1. </a:t>
            </a:r>
            <a:r>
              <a:rPr b="1" sz="1200">
                <a:solidFill>
                  <a:srgbClr val="1E293B"/>
                </a:solidFill>
              </a:rPr>
              <a:t>1. "Topological Link Prediction in Criminal Networks: Evaluating Adamic-Adar and Resource Allocation Measures on Organized Crime Datasets", </a:t>
            </a:r>
            <a:r>
              <a:rPr sz="1200">
                <a:solidFill>
                  <a:srgbClr val="475569"/>
                </a:solidFill>
              </a:rPr>
              <a:t>Cavallaro, L., Ficara, A., De Meo, P., Fiumara, G., Catanese, S., IEEE Transactions on Information Forensics and Security, Vol. 16, pp. 790-804, 2021.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2. </a:t>
            </a:r>
            <a:r>
              <a:rPr b="1" sz="1200">
                <a:solidFill>
                  <a:srgbClr val="1E293B"/>
                </a:solidFill>
              </a:rPr>
              <a:t>2. "Algorithmic Detection of Circular Financial Structuring and Smurfing Loops in Complex Banking Networks", </a:t>
            </a:r>
            <a:r>
              <a:rPr sz="1200">
                <a:solidFill>
                  <a:srgbClr val="475569"/>
                </a:solidFill>
              </a:rPr>
              <a:t>Savage, D., Wang, Q., Chou, P., Zhang, X., ACM Transactions on Knowledge Discovery from Data (TKDD), Vol. 16, Issue 4, pp. 1-28, 2022.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3. </a:t>
            </a:r>
            <a:r>
              <a:rPr b="1" sz="1200">
                <a:solidFill>
                  <a:srgbClr val="1E293B"/>
                </a:solidFill>
              </a:rPr>
              <a:t>3. "Digital Forensics and Evidentiary Integrity under Section 65B of the Indian Evidence Act / Section 63 Bharatiya Sakshya Adhiniyam", </a:t>
            </a:r>
            <a:r>
              <a:rPr sz="1200">
                <a:solidFill>
                  <a:srgbClr val="475569"/>
                </a:solidFill>
              </a:rPr>
              <a:t>Ministry of Law &amp; Justice, Supreme Court of India Guidelines (Arjun Panditrao Khotkar v. Kailash Kushanrao Gorantyal), Government of India Statutory Electronic Evidence Report, 2024.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4. </a:t>
            </a:r>
            <a:r>
              <a:rPr b="1" sz="1200">
                <a:solidFill>
                  <a:srgbClr val="1E293B"/>
                </a:solidFill>
              </a:rPr>
              <a:t>4. "Graph Centrality versus Criminal Culpability: Mitigating Automation Bias in Algorithmic Police Decision Support", </a:t>
            </a:r>
            <a:r>
              <a:rPr sz="1200">
                <a:solidFill>
                  <a:srgbClr val="475569"/>
                </a:solidFill>
              </a:rPr>
              <a:t>Ferguson, A. G., Harvard Journal of Law &amp; Technology (JOLT), Vol. 35, Issue 2, pp. 411-478, 2022.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5. </a:t>
            </a:r>
            <a:r>
              <a:rPr b="1" sz="1200">
                <a:solidFill>
                  <a:srgbClr val="1E293B"/>
                </a:solidFill>
              </a:rPr>
              <a:t>5. "Fast Multiscale Community Detection in Large Complex Networks Using the Louvain and Leiden Algorithms", </a:t>
            </a:r>
            <a:r>
              <a:rPr sz="1200">
                <a:solidFill>
                  <a:srgbClr val="475569"/>
                </a:solidFill>
              </a:rPr>
              <a:t>Traag, V. A., Waltman, L., &amp; van Eck, N. J., Scientific Reports, Nature Publishing Group, Vol. 9, Article 5233,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